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9"/>
  </p:notesMasterIdLst>
  <p:sldIdLst>
    <p:sldId id="256" r:id="rId3"/>
    <p:sldId id="571" r:id="rId4"/>
    <p:sldId id="572" r:id="rId5"/>
    <p:sldId id="573" r:id="rId6"/>
    <p:sldId id="574" r:id="rId7"/>
    <p:sldId id="575" r:id="rId8"/>
    <p:sldId id="576" r:id="rId9"/>
    <p:sldId id="580" r:id="rId10"/>
    <p:sldId id="581" r:id="rId11"/>
    <p:sldId id="582" r:id="rId12"/>
    <p:sldId id="584" r:id="rId13"/>
    <p:sldId id="583" r:id="rId14"/>
    <p:sldId id="577" r:id="rId15"/>
    <p:sldId id="579" r:id="rId16"/>
    <p:sldId id="578" r:id="rId17"/>
    <p:sldId id="536"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p:scale>
          <a:sx n="80" d="100"/>
          <a:sy n="80" d="100"/>
        </p:scale>
        <p:origin x="754" y="10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16</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21-03-2026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www.kaggle.com/datasets/alitaqishah/iran-war-oil-shock-2026-brent-and-gas-tracker?select=iran_war_key_events_timeline.csv"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05933" cy="275699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600" b="1" dirty="0"/>
              <a:t>Iran War Oil </a:t>
            </a:r>
          </a:p>
          <a:p>
            <a:pPr algn="l"/>
            <a:r>
              <a:rPr lang="en-US" sz="5600" b="1" dirty="0"/>
              <a:t>2026-Gas Tracker of USA</a:t>
            </a:r>
            <a:endParaRPr lang="en-US" sz="56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Prajukta harichandan</a:t>
            </a:r>
          </a:p>
          <a:p>
            <a:pPr algn="l">
              <a:spcAft>
                <a:spcPts val="600"/>
              </a:spcAft>
            </a:pPr>
            <a:r>
              <a:rPr lang="en-US" sz="1600" b="1" cap="all" dirty="0"/>
              <a:t>College Name: </a:t>
            </a:r>
            <a:r>
              <a:rPr lang="en-IN" dirty="0"/>
              <a:t>Siksha 'O' </a:t>
            </a:r>
            <a:r>
              <a:rPr lang="en-IN" dirty="0" err="1"/>
              <a:t>Anusandhan</a:t>
            </a:r>
            <a:endParaRPr lang="en-US" sz="1600" b="1" cap="all" dirty="0"/>
          </a:p>
          <a:p>
            <a:pPr algn="l">
              <a:spcAft>
                <a:spcPts val="600"/>
              </a:spcAft>
            </a:pPr>
            <a:r>
              <a:rPr lang="en-US" sz="1600" b="1" cap="all" dirty="0"/>
              <a:t>Department: CSIT</a:t>
            </a:r>
          </a:p>
          <a:p>
            <a:pPr algn="l">
              <a:spcAft>
                <a:spcPts val="600"/>
              </a:spcAft>
            </a:pPr>
            <a:r>
              <a:rPr lang="en-US" sz="1600" b="1" cap="all" dirty="0"/>
              <a:t>Email ID: Prajuktaha@gmail.com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96A9AB63-CD44-9223-B137-248362C5B7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52158" y="49764"/>
            <a:ext cx="4985657" cy="6410131"/>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latin typeface="Arial" panose="020B0604020202020204" pitchFamily="34" charset="0"/>
                <a:cs typeface="Arial" panose="020B0604020202020204" pitchFamily="34" charset="0"/>
              </a:rPr>
              <a:t>The ongoing </a:t>
            </a:r>
            <a:r>
              <a:rPr lang="en-US" sz="2400" b="1" dirty="0">
                <a:latin typeface="Arial" panose="020B0604020202020204" pitchFamily="34" charset="0"/>
                <a:cs typeface="Arial" panose="020B0604020202020204" pitchFamily="34" charset="0"/>
              </a:rPr>
              <a:t>2026 Iran war</a:t>
            </a:r>
            <a:r>
              <a:rPr lang="en-US" sz="2400" dirty="0">
                <a:latin typeface="Arial" panose="020B0604020202020204" pitchFamily="34" charset="0"/>
                <a:cs typeface="Arial" panose="020B0604020202020204" pitchFamily="34" charset="0"/>
              </a:rPr>
              <a:t> has triggered a major disruption in global energy and resource markets, affecting oil and natural gas supply chains in world . Critical infrastructure attacks and the partial closure of the </a:t>
            </a:r>
            <a:r>
              <a:rPr lang="en-US" sz="2400" b="1" dirty="0">
                <a:latin typeface="Arial" panose="020B0604020202020204" pitchFamily="34" charset="0"/>
                <a:cs typeface="Arial" panose="020B0604020202020204" pitchFamily="34" charset="0"/>
              </a:rPr>
              <a:t>Strait of Hormuz</a:t>
            </a:r>
            <a:r>
              <a:rPr lang="en-US" sz="2400" dirty="0">
                <a:latin typeface="Arial" panose="020B0604020202020204" pitchFamily="34" charset="0"/>
                <a:cs typeface="Arial" panose="020B0604020202020204" pitchFamily="34" charset="0"/>
              </a:rPr>
              <a:t>—a route resulting for nearly </a:t>
            </a:r>
            <a:r>
              <a:rPr lang="en-US" sz="2400" b="1" dirty="0">
                <a:latin typeface="Arial" panose="020B0604020202020204" pitchFamily="34" charset="0"/>
                <a:cs typeface="Arial" panose="020B0604020202020204" pitchFamily="34" charset="0"/>
              </a:rPr>
              <a:t>20% of global oil and gas transport</a:t>
            </a:r>
            <a:r>
              <a:rPr lang="en-US" sz="2400" dirty="0">
                <a:latin typeface="Arial" panose="020B0604020202020204" pitchFamily="34" charset="0"/>
                <a:cs typeface="Arial" panose="020B0604020202020204" pitchFamily="34" charset="0"/>
              </a:rPr>
              <a:t>—have reduced supply and increased volatility.</a:t>
            </a:r>
          </a:p>
          <a:p>
            <a:pPr marL="0" indent="0">
              <a:buNone/>
            </a:pPr>
            <a:r>
              <a:rPr lang="en-US" sz="2400" dirty="0">
                <a:latin typeface="Arial" panose="020B0604020202020204" pitchFamily="34" charset="0"/>
                <a:cs typeface="Arial" panose="020B0604020202020204" pitchFamily="34" charset="0"/>
              </a:rPr>
              <a:t>Global oil prices have surged beyond </a:t>
            </a:r>
            <a:r>
              <a:rPr lang="en-US" sz="2400" b="1" dirty="0">
                <a:latin typeface="Arial" panose="020B0604020202020204" pitchFamily="34" charset="0"/>
                <a:cs typeface="Arial" panose="020B0604020202020204" pitchFamily="34" charset="0"/>
              </a:rPr>
              <a:t>$100–$120 per barrel</a:t>
            </a:r>
            <a:r>
              <a:rPr lang="en-US" sz="2400" dirty="0">
                <a:latin typeface="Arial" panose="020B0604020202020204" pitchFamily="34" charset="0"/>
                <a:cs typeface="Arial" panose="020B0604020202020204" pitchFamily="34" charset="0"/>
              </a:rPr>
              <a:t>, with forecasts suggesting further raising spikes depending on the duration of the conflict. Gas prices and LNG supply have also been severely impacted, with some regions experiencing shortages, inflation, and economic instability.</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Despite the scale of disruption, there is a lack of a centralized, real-time analytical dashboard that tracks and visualizes the impact of the war on gas prices, supply levels, and regional dependencies.</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b="1" dirty="0">
                <a:latin typeface="Arial Black" panose="020B0A04020102020204" pitchFamily="34" charset="0"/>
                <a:cs typeface="Arial" panose="020B0604020202020204" pitchFamily="34" charset="0"/>
              </a:rPr>
              <a:t>The solution involves building a data-driven Gas Tracker system that integrates historical and near real-time datasets to provide actionable insights on gas prices, supply disruptions, and geopolitical influence.</a:t>
            </a:r>
            <a:r>
              <a:rPr lang="en-IN" sz="1200" b="1" dirty="0">
                <a:latin typeface="Arial Black" panose="020B0A04020102020204" pitchFamily="34" charset="0"/>
                <a:ea typeface="Calibri"/>
                <a:cs typeface="Arial" panose="020B0604020202020204" pitchFamily="34" charset="0"/>
              </a:rPr>
              <a:t> The solution will consist of the following components:</a:t>
            </a:r>
          </a:p>
          <a:p>
            <a:pPr marL="305435"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Data Collection:</a:t>
            </a: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Gather historical data on recent 2026 real-time data sources.</a:t>
            </a: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Depending on 2026 price of January , </a:t>
            </a:r>
            <a:r>
              <a:rPr lang="en-IN" sz="1200" b="1" dirty="0" err="1">
                <a:latin typeface="Arial Black" panose="020B0A04020102020204" pitchFamily="34" charset="0"/>
                <a:ea typeface="Calibri"/>
                <a:cs typeface="Arial" panose="020B0604020202020204" pitchFamily="34" charset="0"/>
              </a:rPr>
              <a:t>february</a:t>
            </a:r>
            <a:r>
              <a:rPr lang="en-IN" sz="1200" b="1" dirty="0">
                <a:latin typeface="Arial Black" panose="020B0A04020102020204" pitchFamily="34" charset="0"/>
                <a:ea typeface="Calibri"/>
                <a:cs typeface="Arial" panose="020B0604020202020204" pitchFamily="34" charset="0"/>
              </a:rPr>
              <a:t> and current month march details</a:t>
            </a:r>
          </a:p>
          <a:p>
            <a:pPr marL="305435"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Data Preprocessing:</a:t>
            </a:r>
          </a:p>
          <a:p>
            <a:pPr marL="629920" lvl="1" indent="-305435">
              <a:spcBef>
                <a:spcPct val="20000"/>
              </a:spcBef>
              <a:spcAft>
                <a:spcPts val="600"/>
              </a:spcAft>
              <a:buFont typeface="Arial"/>
              <a:buChar char="•"/>
            </a:pPr>
            <a:r>
              <a:rPr lang="en-US" sz="1200" b="1" dirty="0">
                <a:latin typeface="Arial Black" panose="020B0A04020102020204" pitchFamily="34" charset="0"/>
                <a:cs typeface="Arial" panose="020B0604020202020204" pitchFamily="34" charset="0"/>
              </a:rPr>
              <a:t>Structuring time-series data in a consistent month format</a:t>
            </a:r>
            <a:endParaRPr lang="en-IN" sz="1200" b="1" dirty="0">
              <a:latin typeface="Arial Black" panose="020B0A04020102020204" pitchFamily="34" charset="0"/>
              <a:ea typeface="Calibri"/>
              <a:cs typeface="Arial" panose="020B0604020202020204" pitchFamily="34" charset="0"/>
            </a:endParaRPr>
          </a:p>
          <a:p>
            <a:pPr marL="629920" lvl="1" indent="-305435">
              <a:spcBef>
                <a:spcPct val="20000"/>
              </a:spcBef>
              <a:spcAft>
                <a:spcPts val="600"/>
              </a:spcAft>
              <a:buFont typeface="Arial"/>
              <a:buChar char="•"/>
            </a:pPr>
            <a:r>
              <a:rPr lang="en-US" sz="1200" b="1" dirty="0">
                <a:latin typeface="Arial Black" panose="020B0A04020102020204" pitchFamily="34" charset="0"/>
                <a:cs typeface="Arial" panose="020B0604020202020204" pitchFamily="34" charset="0"/>
              </a:rPr>
              <a:t>Handling missing values using  tabular and internet statistic resources</a:t>
            </a:r>
            <a:endParaRPr lang="en-IN" sz="1200" b="1" dirty="0">
              <a:latin typeface="Arial Black" panose="020B0A04020102020204" pitchFamily="34" charset="0"/>
              <a:ea typeface="Calibri"/>
              <a:cs typeface="Arial" panose="020B0604020202020204" pitchFamily="34" charset="0"/>
            </a:endParaRPr>
          </a:p>
          <a:p>
            <a:pPr marL="305435"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Machine Learning Algorithm:</a:t>
            </a: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Implement a machine learning algorithm to </a:t>
            </a:r>
            <a:r>
              <a:rPr lang="en-US" sz="1200" b="1" dirty="0">
                <a:latin typeface="Arial Black" panose="020B0A04020102020204" pitchFamily="34" charset="0"/>
                <a:cs typeface="Arial" panose="020B0604020202020204" pitchFamily="34" charset="0"/>
              </a:rPr>
              <a:t>forecast gas price fluctuations and quantify war impact.</a:t>
            </a:r>
            <a:endParaRPr lang="en-IN" sz="1200" b="1" dirty="0">
              <a:latin typeface="Arial Black" panose="020B0A04020102020204" pitchFamily="34" charset="0"/>
              <a:ea typeface="Calibri"/>
              <a:cs typeface="Arial" panose="020B0604020202020204" pitchFamily="34" charset="0"/>
            </a:endParaRPr>
          </a:p>
          <a:p>
            <a:pPr marL="629920" lvl="1" indent="-305435">
              <a:spcBef>
                <a:spcPct val="20000"/>
              </a:spcBef>
              <a:spcAft>
                <a:spcPts val="600"/>
              </a:spcAft>
              <a:buFont typeface="Arial"/>
              <a:buChar char="•"/>
            </a:pPr>
            <a:r>
              <a:rPr lang="en-US" sz="1200" b="1" dirty="0">
                <a:latin typeface="Arial Black" panose="020B0A04020102020204" pitchFamily="34" charset="0"/>
                <a:cs typeface="Arial" panose="020B0604020202020204" pitchFamily="34" charset="0"/>
              </a:rPr>
              <a:t>Model performance will be evaluated using standard regression metrics:</a:t>
            </a:r>
            <a:endParaRPr lang="en-IN" sz="1200" b="1" dirty="0">
              <a:latin typeface="Arial Black" panose="020B0A04020102020204" pitchFamily="34" charset="0"/>
              <a:ea typeface="Calibri"/>
              <a:cs typeface="Arial" panose="020B0604020202020204" pitchFamily="34" charset="0"/>
            </a:endParaRPr>
          </a:p>
          <a:p>
            <a:pPr marL="305435"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Deployment:</a:t>
            </a: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Develop a user-friendly interface or application that provides real-time predictions for p</a:t>
            </a:r>
            <a:r>
              <a:rPr lang="en-US" sz="1200" b="1" dirty="0" err="1">
                <a:latin typeface="Arial Black" panose="020B0A04020102020204" pitchFamily="34" charset="0"/>
                <a:cs typeface="Arial" panose="020B0604020202020204" pitchFamily="34" charset="0"/>
              </a:rPr>
              <a:t>ower</a:t>
            </a:r>
            <a:r>
              <a:rPr lang="en-US" sz="1200" b="1" dirty="0">
                <a:latin typeface="Arial Black" panose="020B0A04020102020204" pitchFamily="34" charset="0"/>
                <a:cs typeface="Arial" panose="020B0604020202020204" pitchFamily="34" charset="0"/>
              </a:rPr>
              <a:t> BI can fetch predictions dynamically for real-time tracking</a:t>
            </a:r>
            <a:endParaRPr lang="en-IN" sz="1200" b="1" dirty="0">
              <a:latin typeface="Arial Black" panose="020B0A04020102020204" pitchFamily="34" charset="0"/>
              <a:ea typeface="Calibri"/>
              <a:cs typeface="Arial" panose="020B0604020202020204" pitchFamily="34" charset="0"/>
            </a:endParaRP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Deploy the solution on a scalable and reliable </a:t>
            </a:r>
            <a:r>
              <a:rPr lang="en-US" sz="1200" b="1" dirty="0">
                <a:latin typeface="Arial Black" panose="020B0A04020102020204" pitchFamily="34" charset="0"/>
                <a:cs typeface="Arial" panose="020B0604020202020204" pitchFamily="34" charset="0"/>
              </a:rPr>
              <a:t>Model outputs (predicted prices) will be exported as structured datasets</a:t>
            </a:r>
            <a:endParaRPr lang="en-IN" sz="1200" b="1" dirty="0">
              <a:latin typeface="Arial Black" panose="020B0A04020102020204" pitchFamily="34" charset="0"/>
              <a:ea typeface="Calibri"/>
              <a:cs typeface="Arial" panose="020B0604020202020204" pitchFamily="34" charset="0"/>
            </a:endParaRPr>
          </a:p>
          <a:p>
            <a:pPr marL="305435"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Evaluation:</a:t>
            </a:r>
          </a:p>
          <a:p>
            <a:pPr marL="629920" lvl="1" indent="-305435">
              <a:spcBef>
                <a:spcPct val="20000"/>
              </a:spcBef>
              <a:spcAft>
                <a:spcPts val="600"/>
              </a:spcAft>
              <a:buFont typeface="Arial"/>
              <a:buChar char="•"/>
            </a:pPr>
            <a:r>
              <a:rPr lang="en-IN" sz="1200" b="1" dirty="0">
                <a:latin typeface="Arial Black" panose="020B0A04020102020204" pitchFamily="34" charset="0"/>
                <a:ea typeface="Calibri"/>
                <a:cs typeface="Arial" panose="020B0604020202020204" pitchFamily="34" charset="0"/>
              </a:rPr>
              <a:t>Assess the model's performance using appropriate metrics such as Mean Absolute Error (MAE), Root Mean Squared Error (RMSE), or other relevant metrics.</a:t>
            </a:r>
          </a:p>
          <a:p>
            <a:pPr marL="629920" lvl="1" indent="-305435">
              <a:spcBef>
                <a:spcPct val="20000"/>
              </a:spcBef>
              <a:spcAft>
                <a:spcPts val="600"/>
              </a:spcAft>
              <a:buFont typeface="Arial"/>
              <a:buChar char="•"/>
            </a:pPr>
            <a:r>
              <a:rPr lang="en-US" sz="1200" b="1" dirty="0">
                <a:latin typeface="Arial Black" panose="020B0A04020102020204" pitchFamily="34" charset="0"/>
                <a:cs typeface="Arial" panose="020B0604020202020204" pitchFamily="34" charset="0"/>
              </a:rPr>
              <a:t>Accuracy of gas price predictions , Ability to capture volatility caused by war events</a:t>
            </a:r>
            <a:endParaRPr lang="en-IN" sz="1200" b="1" dirty="0">
              <a:latin typeface="Arial Black" panose="020B0A04020102020204" pitchFamily="34" charset="0"/>
              <a:ea typeface="Calibri"/>
              <a:cs typeface="Arial" panose="020B0604020202020204" pitchFamily="34" charset="0"/>
            </a:endParaRPr>
          </a:p>
          <a:p>
            <a:pPr marL="629920" lvl="1" indent="-305435">
              <a:spcBef>
                <a:spcPct val="20000"/>
              </a:spcBef>
              <a:spcAft>
                <a:spcPts val="600"/>
              </a:spcAft>
              <a:buFont typeface="Arial"/>
              <a:buChar char="•"/>
            </a:pPr>
            <a:r>
              <a:rPr lang="en-IN" sz="1200" dirty="0">
                <a:latin typeface="Franklin Gothic Book"/>
              </a:rPr>
              <a:t>Result:</a:t>
            </a: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US" sz="2400" b="1" dirty="0"/>
              <a:t>the system follows an analytical architecture, integrating data </a:t>
            </a:r>
            <a:r>
              <a:rPr lang="en-US" sz="2400" b="1" dirty="0" err="1"/>
              <a:t>collection,data</a:t>
            </a:r>
            <a:r>
              <a:rPr lang="en-US" sz="2400" b="1" dirty="0"/>
              <a:t>  processing, machine learning, and visualization to generate actionable insights on gas price fluctuations.</a:t>
            </a:r>
          </a:p>
          <a:p>
            <a:r>
              <a:rPr lang="en-US" sz="2400" b="1" dirty="0"/>
              <a:t>The system operates in the following sequence:</a:t>
            </a:r>
          </a:p>
          <a:p>
            <a:r>
              <a:rPr lang="en-US" sz="2400" b="1" dirty="0"/>
              <a:t>Data Collection → Data Processing → Model Training → Prediction → Visualization → Evaluation</a:t>
            </a:r>
          </a:p>
          <a:p>
            <a:pPr marL="0" indent="0">
              <a:spcBef>
                <a:spcPct val="20000"/>
              </a:spcBef>
              <a:spcAft>
                <a:spcPts val="600"/>
              </a:spcAft>
              <a:buNone/>
            </a:pPr>
            <a:r>
              <a:rPr lang="en-US" sz="2400" b="1" dirty="0"/>
              <a:t>This approach ensures that geopolitical and market data sources  is transformed into structured insights and predictive intelligence, enabling effective observation of gas price during crisis conditions.</a:t>
            </a:r>
          </a:p>
          <a:p>
            <a:pPr marL="0" indent="0">
              <a:spcBef>
                <a:spcPct val="20000"/>
              </a:spcBef>
              <a:spcAft>
                <a:spcPts val="600"/>
              </a:spcAft>
              <a:buNone/>
            </a:pPr>
            <a:endParaRPr lang="en-US" sz="2200" dirty="0">
              <a:latin typeface="Franklin Gothic Book"/>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Autofit/>
          </a:bodyPr>
          <a:lstStyle/>
          <a:p>
            <a:pPr marL="305435" indent="-305435">
              <a:spcBef>
                <a:spcPct val="20000"/>
              </a:spcBef>
              <a:spcAft>
                <a:spcPts val="600"/>
              </a:spcAft>
              <a:buFont typeface="Arial"/>
              <a:buChar char="•"/>
            </a:pPr>
            <a:r>
              <a:rPr lang="en-IN" sz="2000" b="1" dirty="0">
                <a:latin typeface="Franklin Gothic Book"/>
              </a:rPr>
              <a:t>In the Algorithm section, describe the machine learning algorithm chosen for predicting bike counts. Here's an example structure for this section:</a:t>
            </a:r>
          </a:p>
          <a:p>
            <a:pPr marL="305435" indent="-305435">
              <a:spcBef>
                <a:spcPct val="20000"/>
              </a:spcBef>
              <a:spcAft>
                <a:spcPts val="600"/>
              </a:spcAft>
              <a:buFont typeface="Arial"/>
              <a:buChar char="•"/>
            </a:pPr>
            <a:r>
              <a:rPr lang="en-IN" sz="2000" b="1" u="sng" dirty="0">
                <a:latin typeface="Franklin Gothic Book"/>
              </a:rPr>
              <a:t>Algorithm Selection:  :</a:t>
            </a:r>
            <a:br>
              <a:rPr lang="en-IN" sz="2000" b="1" dirty="0">
                <a:latin typeface="Franklin Gothic Book"/>
              </a:rPr>
            </a:br>
            <a:r>
              <a:rPr lang="en-US" sz="2000" b="1" dirty="0"/>
              <a:t>The problem involves forecasting with external influencing factors (oil prices, supply disruptions, war events). Therefore, two algorithms are selected:</a:t>
            </a:r>
            <a:endParaRPr lang="en-IN" sz="2000" b="1" dirty="0">
              <a:latin typeface="Franklin Gothic Book"/>
            </a:endParaRPr>
          </a:p>
          <a:p>
            <a:pPr marL="305435" indent="-305435">
              <a:spcBef>
                <a:spcPct val="20000"/>
              </a:spcBef>
              <a:spcAft>
                <a:spcPts val="600"/>
              </a:spcAft>
              <a:buFont typeface="Arial"/>
              <a:buChar char="•"/>
            </a:pPr>
            <a:r>
              <a:rPr lang="en-IN" sz="2000" b="1" u="sng" dirty="0">
                <a:latin typeface="Franklin Gothic Book"/>
              </a:rPr>
              <a:t>Data Input:</a:t>
            </a:r>
          </a:p>
          <a:p>
            <a:pPr marL="629920" lvl="1" indent="-305435">
              <a:spcBef>
                <a:spcPct val="20000"/>
              </a:spcBef>
              <a:spcAft>
                <a:spcPts val="600"/>
              </a:spcAft>
              <a:buFont typeface="Arial"/>
              <a:buChar char="•"/>
            </a:pPr>
            <a:r>
              <a:rPr lang="en-IN" sz="2000" b="1" dirty="0"/>
              <a:t>Input taken as Gas Price </a:t>
            </a:r>
            <a:r>
              <a:rPr lang="en-IN" sz="2000" b="1" dirty="0">
                <a:latin typeface="Franklin Gothic Book"/>
              </a:rPr>
              <a:t>data, weather </a:t>
            </a:r>
            <a:r>
              <a:rPr lang="en-IN" sz="2000" b="1" dirty="0" err="1">
                <a:latin typeface="Franklin Gothic Book"/>
              </a:rPr>
              <a:t>conditions,supplu</a:t>
            </a:r>
            <a:r>
              <a:rPr lang="en-IN" sz="2000" b="1" dirty="0">
                <a:latin typeface="Franklin Gothic Book"/>
              </a:rPr>
              <a:t> volume, and any other relevant factors ,  to get the appropriate result</a:t>
            </a:r>
          </a:p>
          <a:p>
            <a:pPr marL="305435" indent="-305435">
              <a:spcBef>
                <a:spcPct val="20000"/>
              </a:spcBef>
              <a:spcAft>
                <a:spcPts val="600"/>
              </a:spcAft>
              <a:buFont typeface="Arial"/>
              <a:buChar char="•"/>
            </a:pPr>
            <a:r>
              <a:rPr lang="en-IN" sz="2000" b="1" u="sng" dirty="0">
                <a:latin typeface="Franklin Gothic Book"/>
              </a:rPr>
              <a:t>Training Process:</a:t>
            </a:r>
          </a:p>
          <a:p>
            <a:pPr marL="629920" lvl="1" indent="-305435">
              <a:spcBef>
                <a:spcPct val="20000"/>
              </a:spcBef>
              <a:spcAft>
                <a:spcPts val="600"/>
              </a:spcAft>
              <a:buFont typeface="Arial"/>
              <a:buChar char="•"/>
            </a:pPr>
            <a:r>
              <a:rPr lang="en-IN" sz="2000" b="1" dirty="0">
                <a:latin typeface="Franklin Gothic Book"/>
              </a:rPr>
              <a:t>Using current scenario </a:t>
            </a:r>
            <a:r>
              <a:rPr lang="en-IN" sz="2000" b="1" dirty="0"/>
              <a:t>Data Split , Pre </a:t>
            </a:r>
            <a:r>
              <a:rPr lang="en-IN" sz="2000" b="1" dirty="0" err="1"/>
              <a:t>orocessing</a:t>
            </a:r>
            <a:r>
              <a:rPr lang="en-IN" sz="2000" b="1" dirty="0"/>
              <a:t> , Model training to learn the pattern by training the model</a:t>
            </a:r>
            <a:endParaRPr lang="en-IN" sz="2000" b="1" dirty="0">
              <a:latin typeface="Franklin Gothic Book"/>
            </a:endParaRPr>
          </a:p>
          <a:p>
            <a:pPr marL="305435" indent="-305435">
              <a:spcBef>
                <a:spcPct val="20000"/>
              </a:spcBef>
              <a:spcAft>
                <a:spcPts val="600"/>
              </a:spcAft>
              <a:buFont typeface="Arial"/>
              <a:buChar char="•"/>
            </a:pPr>
            <a:r>
              <a:rPr lang="en-IN" sz="2000" b="1" u="sng" dirty="0">
                <a:latin typeface="Franklin Gothic Book"/>
              </a:rPr>
              <a:t>Prediction Process:</a:t>
            </a:r>
          </a:p>
          <a:p>
            <a:pPr marL="629920" lvl="1" indent="-305435">
              <a:spcBef>
                <a:spcPct val="20000"/>
              </a:spcBef>
              <a:spcAft>
                <a:spcPts val="600"/>
              </a:spcAft>
              <a:buFont typeface="Arial"/>
              <a:buChar char="•"/>
            </a:pPr>
            <a:r>
              <a:rPr lang="en-IN" sz="2000" b="1" dirty="0">
                <a:latin typeface="Franklin Gothic Book"/>
              </a:rPr>
              <a:t>Once the data is read by model it can generate the latest input output of specific data</a:t>
            </a:r>
            <a:endParaRPr lang="en-GB" sz="2000" b="1"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360759" y="625475"/>
            <a:ext cx="8621316" cy="996950"/>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9" name="Content Placeholder 8">
            <a:extLst>
              <a:ext uri="{FF2B5EF4-FFF2-40B4-BE49-F238E27FC236}">
                <a16:creationId xmlns:a16="http://schemas.microsoft.com/office/drawing/2014/main" id="{85B0F412-33A2-EA68-E87F-309FD5A85BAA}"/>
              </a:ext>
            </a:extLst>
          </p:cNvPr>
          <p:cNvSpPr>
            <a:spLocks noGrp="1"/>
          </p:cNvSpPr>
          <p:nvPr>
            <p:ph idx="1"/>
          </p:nvPr>
        </p:nvSpPr>
        <p:spPr/>
        <p:txBody>
          <a:bodyPr/>
          <a:lstStyle/>
          <a:p>
            <a:endParaRPr lang="en-IN"/>
          </a:p>
        </p:txBody>
      </p:sp>
      <p:pic>
        <p:nvPicPr>
          <p:cNvPr id="11" name="Picture 10">
            <a:extLst>
              <a:ext uri="{FF2B5EF4-FFF2-40B4-BE49-F238E27FC236}">
                <a16:creationId xmlns:a16="http://schemas.microsoft.com/office/drawing/2014/main" id="{90A08284-CC32-1CA0-1318-8CF2B9D4F736}"/>
              </a:ext>
            </a:extLst>
          </p:cNvPr>
          <p:cNvPicPr>
            <a:picLocks noChangeAspect="1"/>
          </p:cNvPicPr>
          <p:nvPr/>
        </p:nvPicPr>
        <p:blipFill>
          <a:blip r:embed="rId2"/>
          <a:stretch>
            <a:fillRect/>
          </a:stretch>
        </p:blipFill>
        <p:spPr>
          <a:xfrm>
            <a:off x="360759" y="1143001"/>
            <a:ext cx="11107341" cy="5513152"/>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25FE51-E0F0-E1FE-4E73-0315920FB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48BE3-D8BE-45A8-3B6E-659858C698E0}"/>
              </a:ext>
            </a:extLst>
          </p:cNvPr>
          <p:cNvSpPr>
            <a:spLocks noGrp="1"/>
          </p:cNvSpPr>
          <p:nvPr>
            <p:ph type="title"/>
          </p:nvPr>
        </p:nvSpPr>
        <p:spPr>
          <a:xfrm>
            <a:off x="360759" y="625475"/>
            <a:ext cx="5439966" cy="889000"/>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4" name="Content Placeholder 3">
            <a:extLst>
              <a:ext uri="{FF2B5EF4-FFF2-40B4-BE49-F238E27FC236}">
                <a16:creationId xmlns:a16="http://schemas.microsoft.com/office/drawing/2014/main" id="{C42E5FB3-75FF-AA0A-849E-DB5C8C1F48A1}"/>
              </a:ext>
            </a:extLst>
          </p:cNvPr>
          <p:cNvSpPr>
            <a:spLocks noGrp="1"/>
          </p:cNvSpPr>
          <p:nvPr>
            <p:ph idx="1"/>
          </p:nvPr>
        </p:nvSpPr>
        <p:spPr/>
        <p:txBody>
          <a:bodyPr/>
          <a:lstStyle/>
          <a:p>
            <a:pPr marL="0" indent="0">
              <a:buNone/>
            </a:pPr>
            <a:endParaRPr lang="en-IN" dirty="0"/>
          </a:p>
        </p:txBody>
      </p:sp>
      <p:pic>
        <p:nvPicPr>
          <p:cNvPr id="9" name="Picture 8">
            <a:extLst>
              <a:ext uri="{FF2B5EF4-FFF2-40B4-BE49-F238E27FC236}">
                <a16:creationId xmlns:a16="http://schemas.microsoft.com/office/drawing/2014/main" id="{D5C97F9F-0AF5-F35D-8656-0AD87ADEFE2B}"/>
              </a:ext>
            </a:extLst>
          </p:cNvPr>
          <p:cNvPicPr>
            <a:picLocks noChangeAspect="1"/>
          </p:cNvPicPr>
          <p:nvPr/>
        </p:nvPicPr>
        <p:blipFill>
          <a:blip r:embed="rId2"/>
          <a:stretch>
            <a:fillRect/>
          </a:stretch>
        </p:blipFill>
        <p:spPr>
          <a:xfrm>
            <a:off x="1152525" y="1243325"/>
            <a:ext cx="9296400" cy="51591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0438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330D90-2F37-0540-DA72-019303B6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F5203-E25E-5557-72EC-DE92B8A51FB7}"/>
              </a:ext>
            </a:extLst>
          </p:cNvPr>
          <p:cNvSpPr>
            <a:spLocks noGrp="1"/>
          </p:cNvSpPr>
          <p:nvPr>
            <p:ph type="title"/>
          </p:nvPr>
        </p:nvSpPr>
        <p:spPr>
          <a:xfrm>
            <a:off x="360758" y="625475"/>
            <a:ext cx="8021242" cy="889000"/>
          </a:xfrm>
        </p:spPr>
        <p:txBody>
          <a:bodyPr lIns="91440" tIns="45720" rIns="91440" bIns="45720" anchor="t">
            <a:normAutofit/>
          </a:bodyPr>
          <a:lstStyle/>
          <a:p>
            <a:r>
              <a:rPr lang="en-US" sz="4000" b="1" cap="all" dirty="0">
                <a:latin typeface="Arial"/>
                <a:cs typeface="Arial"/>
              </a:rPr>
              <a:t>Result: January report</a:t>
            </a:r>
            <a:endParaRPr lang="en-US" sz="4000" dirty="0"/>
          </a:p>
        </p:txBody>
      </p:sp>
      <p:sp>
        <p:nvSpPr>
          <p:cNvPr id="4" name="Content Placeholder 3">
            <a:extLst>
              <a:ext uri="{FF2B5EF4-FFF2-40B4-BE49-F238E27FC236}">
                <a16:creationId xmlns:a16="http://schemas.microsoft.com/office/drawing/2014/main" id="{1560C70F-34CF-3DD7-0217-8755B49979A0}"/>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9D1A3E89-2406-FFD5-66A8-36D289CC9F35}"/>
              </a:ext>
            </a:extLst>
          </p:cNvPr>
          <p:cNvPicPr>
            <a:picLocks noChangeAspect="1"/>
          </p:cNvPicPr>
          <p:nvPr/>
        </p:nvPicPr>
        <p:blipFill>
          <a:blip r:embed="rId2"/>
          <a:stretch>
            <a:fillRect/>
          </a:stretch>
        </p:blipFill>
        <p:spPr>
          <a:xfrm>
            <a:off x="206333" y="1460500"/>
            <a:ext cx="7613206" cy="4772025"/>
          </a:xfrm>
          <a:prstGeom prst="rect">
            <a:avLst/>
          </a:prstGeom>
        </p:spPr>
      </p:pic>
    </p:spTree>
    <p:extLst>
      <p:ext uri="{BB962C8B-B14F-4D97-AF65-F5344CB8AC3E}">
        <p14:creationId xmlns:p14="http://schemas.microsoft.com/office/powerpoint/2010/main" val="2796175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1D207-588E-180E-0C30-F78824933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E2AC1-11B1-2160-D76B-56B5F1D839AA}"/>
              </a:ext>
            </a:extLst>
          </p:cNvPr>
          <p:cNvSpPr>
            <a:spLocks noGrp="1"/>
          </p:cNvSpPr>
          <p:nvPr>
            <p:ph type="title"/>
          </p:nvPr>
        </p:nvSpPr>
        <p:spPr>
          <a:xfrm>
            <a:off x="360759" y="625475"/>
            <a:ext cx="7383066" cy="889000"/>
          </a:xfrm>
        </p:spPr>
        <p:txBody>
          <a:bodyPr lIns="91440" tIns="45720" rIns="91440" bIns="45720" anchor="t">
            <a:normAutofit fontScale="90000"/>
          </a:bodyPr>
          <a:lstStyle/>
          <a:p>
            <a:r>
              <a:rPr lang="en-US" sz="4000" b="1" cap="all" dirty="0">
                <a:latin typeface="Arial"/>
                <a:cs typeface="Arial"/>
              </a:rPr>
              <a:t>Result: February report</a:t>
            </a:r>
            <a:endParaRPr lang="en-US" sz="4000" dirty="0"/>
          </a:p>
        </p:txBody>
      </p:sp>
      <p:sp>
        <p:nvSpPr>
          <p:cNvPr id="4" name="Content Placeholder 3">
            <a:extLst>
              <a:ext uri="{FF2B5EF4-FFF2-40B4-BE49-F238E27FC236}">
                <a16:creationId xmlns:a16="http://schemas.microsoft.com/office/drawing/2014/main" id="{4CDE8310-0D04-0848-7AC9-CB3037B4071C}"/>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143A3EAF-E92B-410C-F59F-17A72739B65D}"/>
              </a:ext>
            </a:extLst>
          </p:cNvPr>
          <p:cNvPicPr>
            <a:picLocks noChangeAspect="1"/>
          </p:cNvPicPr>
          <p:nvPr/>
        </p:nvPicPr>
        <p:blipFill>
          <a:blip r:embed="rId2"/>
          <a:stretch>
            <a:fillRect/>
          </a:stretch>
        </p:blipFill>
        <p:spPr>
          <a:xfrm>
            <a:off x="1515308" y="1400175"/>
            <a:ext cx="7172985" cy="5124450"/>
          </a:xfrm>
          <a:prstGeom prst="rect">
            <a:avLst/>
          </a:prstGeom>
        </p:spPr>
      </p:pic>
    </p:spTree>
    <p:extLst>
      <p:ext uri="{BB962C8B-B14F-4D97-AF65-F5344CB8AC3E}">
        <p14:creationId xmlns:p14="http://schemas.microsoft.com/office/powerpoint/2010/main" val="236698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58F077-F32B-A02C-708C-DFC8F2737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71E2A-E622-F2AF-85FB-DE1CA768C2EF}"/>
              </a:ext>
            </a:extLst>
          </p:cNvPr>
          <p:cNvSpPr>
            <a:spLocks noGrp="1"/>
          </p:cNvSpPr>
          <p:nvPr>
            <p:ph type="title"/>
          </p:nvPr>
        </p:nvSpPr>
        <p:spPr>
          <a:xfrm>
            <a:off x="360758" y="625475"/>
            <a:ext cx="8116491" cy="889000"/>
          </a:xfrm>
        </p:spPr>
        <p:txBody>
          <a:bodyPr lIns="91440" tIns="45720" rIns="91440" bIns="45720" anchor="t">
            <a:normAutofit/>
          </a:bodyPr>
          <a:lstStyle/>
          <a:p>
            <a:r>
              <a:rPr lang="en-US" sz="4000" b="1" cap="all" dirty="0">
                <a:latin typeface="Arial"/>
                <a:cs typeface="Arial"/>
              </a:rPr>
              <a:t>Result: march report</a:t>
            </a:r>
            <a:endParaRPr lang="en-US" sz="4000" dirty="0"/>
          </a:p>
        </p:txBody>
      </p:sp>
      <p:sp>
        <p:nvSpPr>
          <p:cNvPr id="4" name="Content Placeholder 3">
            <a:extLst>
              <a:ext uri="{FF2B5EF4-FFF2-40B4-BE49-F238E27FC236}">
                <a16:creationId xmlns:a16="http://schemas.microsoft.com/office/drawing/2014/main" id="{37C64D08-82BD-9A51-D135-E7841F02A8C7}"/>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E3ABF20E-C62A-DE32-14AE-D4139C34AA4A}"/>
              </a:ext>
            </a:extLst>
          </p:cNvPr>
          <p:cNvPicPr>
            <a:picLocks noChangeAspect="1"/>
          </p:cNvPicPr>
          <p:nvPr/>
        </p:nvPicPr>
        <p:blipFill>
          <a:blip r:embed="rId2"/>
          <a:stretch>
            <a:fillRect/>
          </a:stretch>
        </p:blipFill>
        <p:spPr>
          <a:xfrm>
            <a:off x="671569" y="1270574"/>
            <a:ext cx="8567681" cy="5415975"/>
          </a:xfrm>
          <a:prstGeom prst="rect">
            <a:avLst/>
          </a:prstGeom>
        </p:spPr>
      </p:pic>
    </p:spTree>
    <p:extLst>
      <p:ext uri="{BB962C8B-B14F-4D97-AF65-F5344CB8AC3E}">
        <p14:creationId xmlns:p14="http://schemas.microsoft.com/office/powerpoint/2010/main" val="2596082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FE2DDC-7C79-E59E-80B5-A5E03766A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B1D22-2C28-DD6D-CF6D-983D63BDBFD9}"/>
              </a:ext>
            </a:extLst>
          </p:cNvPr>
          <p:cNvSpPr>
            <a:spLocks noGrp="1"/>
          </p:cNvSpPr>
          <p:nvPr>
            <p:ph type="title"/>
          </p:nvPr>
        </p:nvSpPr>
        <p:spPr>
          <a:xfrm>
            <a:off x="360758" y="625475"/>
            <a:ext cx="10840642" cy="889000"/>
          </a:xfrm>
        </p:spPr>
        <p:txBody>
          <a:bodyPr lIns="91440" tIns="45720" rIns="91440" bIns="45720" anchor="t">
            <a:normAutofit fontScale="90000"/>
          </a:bodyPr>
          <a:lstStyle/>
          <a:p>
            <a:r>
              <a:rPr lang="en-US" sz="4000" b="1" cap="all" dirty="0">
                <a:latin typeface="Arial"/>
                <a:cs typeface="Arial"/>
              </a:rPr>
              <a:t>Result: regions faced spike after war</a:t>
            </a:r>
            <a:endParaRPr lang="en-US" sz="4000" dirty="0"/>
          </a:p>
        </p:txBody>
      </p:sp>
      <p:sp>
        <p:nvSpPr>
          <p:cNvPr id="4" name="Content Placeholder 3">
            <a:extLst>
              <a:ext uri="{FF2B5EF4-FFF2-40B4-BE49-F238E27FC236}">
                <a16:creationId xmlns:a16="http://schemas.microsoft.com/office/drawing/2014/main" id="{166F1A12-46AE-02C0-7996-79527549308F}"/>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21B7544F-8C19-4205-D1DC-DD0067CB8A6F}"/>
              </a:ext>
            </a:extLst>
          </p:cNvPr>
          <p:cNvPicPr>
            <a:picLocks noChangeAspect="1"/>
          </p:cNvPicPr>
          <p:nvPr/>
        </p:nvPicPr>
        <p:blipFill>
          <a:blip r:embed="rId2"/>
          <a:stretch>
            <a:fillRect/>
          </a:stretch>
        </p:blipFill>
        <p:spPr>
          <a:xfrm>
            <a:off x="879981" y="1117269"/>
            <a:ext cx="8168769" cy="5360344"/>
          </a:xfrm>
          <a:prstGeom prst="rect">
            <a:avLst/>
          </a:prstGeom>
        </p:spPr>
      </p:pic>
    </p:spTree>
    <p:extLst>
      <p:ext uri="{BB962C8B-B14F-4D97-AF65-F5344CB8AC3E}">
        <p14:creationId xmlns:p14="http://schemas.microsoft.com/office/powerpoint/2010/main" val="13101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lnSpcReduction="10000"/>
          </a:bodyPr>
          <a:lstStyle/>
          <a:p>
            <a:r>
              <a:rPr lang="en-US" sz="2400" dirty="0">
                <a:latin typeface="Arial" panose="020B0604020202020204" pitchFamily="34" charset="0"/>
                <a:cs typeface="Arial" panose="020B0604020202020204" pitchFamily="34" charset="0"/>
              </a:rPr>
              <a:t>This project is successfully developed a </a:t>
            </a:r>
            <a:r>
              <a:rPr lang="en-US" sz="2400" b="1" dirty="0">
                <a:latin typeface="Arial" panose="020B0604020202020204" pitchFamily="34" charset="0"/>
                <a:cs typeface="Arial" panose="020B0604020202020204" pitchFamily="34" charset="0"/>
              </a:rPr>
              <a:t>data analytical and predicting system</a:t>
            </a:r>
            <a:r>
              <a:rPr lang="en-US" sz="2400" dirty="0">
                <a:latin typeface="Arial" panose="020B0604020202020204" pitchFamily="34" charset="0"/>
                <a:cs typeface="Arial" panose="020B0604020202020204" pitchFamily="34" charset="0"/>
              </a:rPr>
              <a:t> to study the impact of the 2026 Iran war on gas prices across different regions of the United States during the period of January to March 2026.</a:t>
            </a:r>
          </a:p>
          <a:p>
            <a:r>
              <a:rPr lang="en-US" sz="2400" dirty="0">
                <a:latin typeface="Arial" panose="020B0604020202020204" pitchFamily="34" charset="0"/>
                <a:cs typeface="Arial" panose="020B0604020202020204" pitchFamily="34" charset="0"/>
              </a:rPr>
              <a:t>The analysis revealed that </a:t>
            </a:r>
            <a:r>
              <a:rPr lang="en-US" sz="2400" b="1" dirty="0">
                <a:latin typeface="Arial" panose="020B0604020202020204" pitchFamily="34" charset="0"/>
                <a:cs typeface="Arial" panose="020B0604020202020204" pitchFamily="34" charset="0"/>
              </a:rPr>
              <a:t>gas price fluctuations are not uniform across regions</a:t>
            </a:r>
            <a:r>
              <a:rPr lang="en-US" sz="2400" dirty="0">
                <a:latin typeface="Arial" panose="020B0604020202020204" pitchFamily="34" charset="0"/>
                <a:cs typeface="Arial" panose="020B0604020202020204" pitchFamily="34" charset="0"/>
              </a:rPr>
              <a:t>, with certain areas experiencing sharper increases due to higher dependency on imports and supply chain disruptions. Regions with stronger infrastructure and diversified energy sources showed relatively </a:t>
            </a:r>
            <a:r>
              <a:rPr lang="en-US" sz="2400" b="1" dirty="0">
                <a:latin typeface="Arial" panose="020B0604020202020204" pitchFamily="34" charset="0"/>
                <a:cs typeface="Arial" panose="020B0604020202020204" pitchFamily="34" charset="0"/>
              </a:rPr>
              <a:t>lower volatility</a:t>
            </a:r>
            <a:r>
              <a:rPr lang="en-US" sz="2400" dirty="0">
                <a:latin typeface="Arial" panose="020B0604020202020204" pitchFamily="34" charset="0"/>
                <a:cs typeface="Arial" panose="020B0604020202020204" pitchFamily="34" charset="0"/>
              </a:rPr>
              <a:t>, while others were more sensitive to geopolitical shocks.</a:t>
            </a:r>
          </a:p>
          <a:p>
            <a:r>
              <a:rPr lang="en-US" sz="2400" dirty="0">
                <a:latin typeface="Arial" panose="020B0604020202020204" pitchFamily="34" charset="0"/>
                <a:cs typeface="Arial" panose="020B0604020202020204" pitchFamily="34" charset="0"/>
              </a:rPr>
              <a:t>Overall, the project demonstrates that </a:t>
            </a:r>
            <a:r>
              <a:rPr lang="en-US" sz="2400" b="1" dirty="0">
                <a:latin typeface="Arial" panose="020B0604020202020204" pitchFamily="34" charset="0"/>
                <a:cs typeface="Arial" panose="020B0604020202020204" pitchFamily="34" charset="0"/>
              </a:rPr>
              <a:t>machine learning with intelligence tools</a:t>
            </a:r>
            <a:r>
              <a:rPr lang="en-US" sz="2400" dirty="0">
                <a:latin typeface="Arial" panose="020B0604020202020204" pitchFamily="34" charset="0"/>
                <a:cs typeface="Arial" panose="020B0604020202020204" pitchFamily="34" charset="0"/>
              </a:rPr>
              <a:t> can </a:t>
            </a:r>
            <a:r>
              <a:rPr lang="en-US" sz="2400" dirty="0" err="1">
                <a:latin typeface="Arial" panose="020B0604020202020204" pitchFamily="34" charset="0"/>
                <a:cs typeface="Arial" panose="020B0604020202020204" pitchFamily="34" charset="0"/>
              </a:rPr>
              <a:t>esily</a:t>
            </a:r>
            <a:r>
              <a:rPr lang="en-US" sz="2400" dirty="0">
                <a:latin typeface="Arial" panose="020B0604020202020204" pitchFamily="34" charset="0"/>
                <a:cs typeface="Arial" panose="020B0604020202020204" pitchFamily="34" charset="0"/>
              </a:rPr>
              <a:t> transform raw data into </a:t>
            </a:r>
            <a:r>
              <a:rPr lang="en-US" sz="2400" b="1" dirty="0">
                <a:latin typeface="Arial" panose="020B0604020202020204" pitchFamily="34" charset="0"/>
                <a:cs typeface="Arial" panose="020B0604020202020204" pitchFamily="34" charset="0"/>
              </a:rPr>
              <a:t>an </a:t>
            </a:r>
            <a:r>
              <a:rPr lang="en-US" sz="2400" b="1" dirty="0" err="1">
                <a:latin typeface="Arial" panose="020B0604020202020204" pitchFamily="34" charset="0"/>
                <a:cs typeface="Arial" panose="020B0604020202020204" pitchFamily="34" charset="0"/>
              </a:rPr>
              <a:t>dataful</a:t>
            </a:r>
            <a:r>
              <a:rPr lang="en-US" sz="2400" b="1" dirty="0">
                <a:latin typeface="Arial" panose="020B0604020202020204" pitchFamily="34" charset="0"/>
                <a:cs typeface="Arial" panose="020B0604020202020204" pitchFamily="34" charset="0"/>
              </a:rPr>
              <a:t> insights</a:t>
            </a:r>
            <a:r>
              <a:rPr lang="en-US" sz="2400" dirty="0">
                <a:latin typeface="Arial" panose="020B0604020202020204" pitchFamily="34" charset="0"/>
                <a:cs typeface="Arial" panose="020B0604020202020204" pitchFamily="34" charset="0"/>
              </a:rPr>
              <a:t>, helping analysts understand and respond to </a:t>
            </a:r>
            <a:r>
              <a:rPr lang="en-US" sz="2400" b="1" dirty="0">
                <a:latin typeface="Arial" panose="020B0604020202020204" pitchFamily="34" charset="0"/>
                <a:cs typeface="Arial" panose="020B0604020202020204" pitchFamily="34" charset="0"/>
              </a:rPr>
              <a:t>regional gas price volatility in the United States during geopolitical disruptions</a:t>
            </a:r>
            <a:r>
              <a:rPr lang="en-US" sz="2400" dirty="0">
                <a:latin typeface="Arial" panose="020B0604020202020204" pitchFamily="34" charset="0"/>
                <a:cs typeface="Arial" panose="020B0604020202020204" pitchFamily="34" charset="0"/>
              </a:rPr>
              <a:t>.</a:t>
            </a:r>
          </a:p>
          <a:p>
            <a:endParaRPr lang="en-US" sz="2400" dirty="0"/>
          </a:p>
          <a:p>
            <a:endParaRPr lang="en-US" sz="2400" dirty="0"/>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r>
              <a:rPr lang="en-US" sz="3200" b="1" dirty="0"/>
              <a:t>The current system focuses on short-term analysis (Jan–Mar 2026); however, it can be significantly expanded to improve accuracy, scalability, and real-world applicability.</a:t>
            </a:r>
          </a:p>
          <a:p>
            <a:pPr marL="0" indent="0">
              <a:spcBef>
                <a:spcPct val="20000"/>
              </a:spcBef>
              <a:spcAft>
                <a:spcPts val="600"/>
              </a:spcAft>
              <a:buNone/>
            </a:pPr>
            <a:r>
              <a:rPr lang="en-US" sz="3200" b="1" dirty="0"/>
              <a:t>The system can evolve into a comprehensive, real-time energy intelligence platform that not only tracks and predicts gas prices but also guides strategic decisions during global geopolitical crises.</a:t>
            </a:r>
          </a:p>
        </p:txBody>
      </p:sp>
    </p:spTree>
    <p:extLst>
      <p:ext uri="{BB962C8B-B14F-4D97-AF65-F5344CB8AC3E}">
        <p14:creationId xmlns:p14="http://schemas.microsoft.com/office/powerpoint/2010/main" val="3744199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Data Set : </a:t>
            </a:r>
            <a:r>
              <a:rPr lang="en-IN" sz="2200" dirty="0">
                <a:latin typeface="Franklin Gothic Book"/>
                <a:hlinkClick r:id="rId2"/>
              </a:rPr>
              <a:t>https://www.kaggle.com/datasets/alitaqishah/iran-war-oil-shock-2026-brent-and-gas-tracker?select=iran_war_key_events_timeline.csv</a:t>
            </a:r>
            <a:endParaRPr lang="en-IN" sz="2200" dirty="0">
              <a:latin typeface="Franklin Gothic Book"/>
            </a:endParaRPr>
          </a:p>
          <a:p>
            <a:r>
              <a:rPr lang="en-IN" sz="2200" dirty="0">
                <a:latin typeface="Franklin Gothic Book"/>
              </a:rPr>
              <a:t>Software : </a:t>
            </a:r>
            <a:r>
              <a:rPr lang="en-IN" sz="2200" dirty="0" err="1">
                <a:latin typeface="Franklin Gothic Book"/>
              </a:rPr>
              <a:t>PowerBI</a:t>
            </a:r>
            <a:r>
              <a:rPr lang="en-IN" sz="2200" dirty="0">
                <a:latin typeface="Franklin Gothic Book"/>
              </a:rPr>
              <a:t>, Power Point , Microsoft Excel.</a:t>
            </a:r>
            <a:endParaRPr lang="en-US" sz="2200" dirty="0">
              <a:latin typeface="Franklin Gothic Book" panose="020B0503020102020204"/>
            </a:endParaRPr>
          </a:p>
          <a:p>
            <a:r>
              <a:rPr lang="en-US" sz="2400" dirty="0"/>
              <a:t>This dataset was built to create a single, clean, source-verified record of the 2026 Iran oil shock — a structured resource that didn't exist during the fast-moving early weeks of the conflict. Every row links back to a named, verifiable source. Updated daily as the crisis evolves.</a:t>
            </a:r>
            <a:endParaRPr lang="en-US" b="1" dirty="0">
              <a:latin typeface="Franklin Gothic Book"/>
            </a:endParaRPr>
          </a:p>
          <a:p>
            <a:endParaRPr lang="en-IN" sz="2200" dirty="0">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941</Words>
  <Application>Microsoft Office PowerPoint</Application>
  <PresentationFormat>Widescreen</PresentationFormat>
  <Paragraphs>73</Paragraphs>
  <Slides>16</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Arial</vt:lpstr>
      <vt:lpstr>Arial Black</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Result:</vt:lpstr>
      <vt:lpstr>Result: January report</vt:lpstr>
      <vt:lpstr>Result: February report</vt:lpstr>
      <vt:lpstr>Result: march report</vt:lpstr>
      <vt:lpstr>Result: regions faced spike after war</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prajukta harichandan</cp:lastModifiedBy>
  <cp:revision>101</cp:revision>
  <dcterms:created xsi:type="dcterms:W3CDTF">2024-05-21T11:55:07Z</dcterms:created>
  <dcterms:modified xsi:type="dcterms:W3CDTF">2026-03-20T22:17:30Z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